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391" r:id="rId5"/>
    <p:sldId id="409" r:id="rId6"/>
    <p:sldId id="410" r:id="rId7"/>
    <p:sldId id="411" r:id="rId8"/>
    <p:sldId id="412" r:id="rId9"/>
    <p:sldId id="413" r:id="rId10"/>
    <p:sldId id="414" r:id="rId11"/>
    <p:sldId id="415" r:id="rId12"/>
    <p:sldId id="416" r:id="rId13"/>
    <p:sldId id="417" r:id="rId14"/>
    <p:sldId id="3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s5rMwoG4XRQ1G5Mu6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263431"/>
            <a:ext cx="10566699" cy="632118"/>
          </a:xfrm>
        </p:spPr>
        <p:txBody>
          <a:bodyPr/>
          <a:lstStyle/>
          <a:p>
            <a:r>
              <a:rPr lang="en-US" sz="4000" dirty="0"/>
              <a:t>ROUND 1 : Online Screening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0" y="2693293"/>
            <a:ext cx="9334500" cy="2177548"/>
          </a:xfrm>
        </p:spPr>
        <p:txBody>
          <a:bodyPr>
            <a:normAutofit fontScale="92500" lnSpcReduction="10000"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First round will be online screening round of your idea</a:t>
            </a: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is requested to make PPT on it</a:t>
            </a: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All the guidelines are given in this document</a:t>
            </a: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should strictly follow it and submit it for evaluation on 26</a:t>
            </a:r>
            <a:r>
              <a:rPr lang="en-US" sz="2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January before midnight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B39D799-5EF9-53FA-365C-1D1D66BE0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77" y="102874"/>
            <a:ext cx="1370752" cy="899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05119C-9A1B-A140-F9A8-A470586563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752" y="6068083"/>
            <a:ext cx="2737549" cy="5986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365881-0347-D92D-E9EF-CFD3AE4DA5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32" b="17841"/>
          <a:stretch>
            <a:fillRect/>
          </a:stretch>
        </p:blipFill>
        <p:spPr>
          <a:xfrm>
            <a:off x="1920191" y="116600"/>
            <a:ext cx="1889810" cy="86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0005D-7951-2366-0715-1456EB584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10" y="368793"/>
            <a:ext cx="11878779" cy="1235417"/>
          </a:xfrm>
        </p:spPr>
        <p:txBody>
          <a:bodyPr/>
          <a:lstStyle/>
          <a:p>
            <a:r>
              <a:rPr lang="en-IN" dirty="0"/>
              <a:t>AI Multi-Disease Diagnostic Assistant for Rural Healthcare (Gujarati Voice Based System)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0BFA8-FD9F-A769-9155-F4C55EBF14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9559" y="2362129"/>
            <a:ext cx="6787747" cy="37085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Name: </a:t>
            </a:r>
            <a:r>
              <a:rPr lang="en-IN" dirty="0">
                <a:solidFill>
                  <a:schemeClr val="bg1"/>
                </a:solidFill>
              </a:rPr>
              <a:t>CodeCure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</a:rPr>
              <a:t>Team Introduction: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Makwana Ayush (Leader)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err="1">
                <a:solidFill>
                  <a:schemeClr val="bg1"/>
                </a:solidFill>
              </a:rPr>
              <a:t>Charadva</a:t>
            </a:r>
            <a:r>
              <a:rPr lang="en-US" sz="1800" dirty="0">
                <a:solidFill>
                  <a:schemeClr val="bg1"/>
                </a:solidFill>
              </a:rPr>
              <a:t> Rishi (Member)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 err="1">
                <a:solidFill>
                  <a:schemeClr val="bg1"/>
                </a:solidFill>
              </a:rPr>
              <a:t>Savaliya</a:t>
            </a:r>
            <a:r>
              <a:rPr lang="en-IN" sz="1800" dirty="0">
                <a:solidFill>
                  <a:schemeClr val="bg1"/>
                </a:solidFill>
              </a:rPr>
              <a:t> Abhi </a:t>
            </a:r>
            <a:r>
              <a:rPr lang="en-US" sz="1800" dirty="0">
                <a:solidFill>
                  <a:schemeClr val="bg1"/>
                </a:solidFill>
              </a:rPr>
              <a:t>(Member)</a:t>
            </a:r>
          </a:p>
        </p:txBody>
      </p:sp>
    </p:spTree>
    <p:extLst>
      <p:ext uri="{BB962C8B-B14F-4D97-AF65-F5344CB8AC3E}">
        <p14:creationId xmlns:p14="http://schemas.microsoft.com/office/powerpoint/2010/main" val="2783887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A6BB2-05AD-E819-1140-3D3F040A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Slide 2: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F9B04-06D2-C1C2-3B5A-D230517C767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Rural people in Gujarat face difficulty in early disease diagnosis due to lack of doctors, language barriers, and low digital literacy</a:t>
            </a:r>
          </a:p>
          <a:p>
            <a:pPr marL="402336" lvl="1" indent="0">
              <a:buNone/>
            </a:pPr>
            <a:endParaRPr lang="en-US" dirty="0"/>
          </a:p>
          <a:p>
            <a:pPr lvl="1"/>
            <a:r>
              <a:rPr lang="en-US" dirty="0"/>
              <a:t>This project fulfills the Healthcare, Artificial Intelligence, and Social Impact tracks by providing an AI-based diagnostic system for underserved rural communities using regional language voice support.”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402336" lvl="1" indent="0">
              <a:buNone/>
            </a:pPr>
            <a:endParaRPr lang="en-US" dirty="0"/>
          </a:p>
          <a:p>
            <a:pPr lvl="1"/>
            <a:r>
              <a:rPr lang="en-US" dirty="0"/>
              <a:t>It is important solve this now because rural areas lack of doctors, people mainly speak Gujarati, not English, AI can help in early screening and awareness.</a:t>
            </a:r>
          </a:p>
        </p:txBody>
      </p:sp>
    </p:spTree>
    <p:extLst>
      <p:ext uri="{BB962C8B-B14F-4D97-AF65-F5344CB8AC3E}">
        <p14:creationId xmlns:p14="http://schemas.microsoft.com/office/powerpoint/2010/main" val="206779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48FDB-EE52-281A-BBAD-93EB7AEC5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3: Proposed Solution (Core Idea)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AEB9E-90E3-B92A-5100-26AC2D09470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How It Solves the Problem: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Supports Gujarati language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Works with voice input for illiterate users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Gives instant disease prediction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Provides explanation and medical report using AI</a:t>
            </a:r>
          </a:p>
          <a:p>
            <a:r>
              <a:rPr lang="en-US" dirty="0">
                <a:solidFill>
                  <a:schemeClr val="bg1"/>
                </a:solidFill>
              </a:rPr>
              <a:t>Key Features: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Symptom-based disease prediction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Gujarati &amp; English AI explanation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Voice-to-symptom system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AI medical report generation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Image-based diagnosis support</a:t>
            </a:r>
          </a:p>
          <a:p>
            <a:pPr marL="402336" lvl="1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972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5E6D-3CC8-7A93-0F26-A78A28BA5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781" y="867565"/>
            <a:ext cx="6787747" cy="840687"/>
          </a:xfrm>
        </p:spPr>
        <p:txBody>
          <a:bodyPr/>
          <a:lstStyle/>
          <a:p>
            <a:r>
              <a:rPr lang="en-IN" dirty="0"/>
              <a:t>Slide 4: 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A9BE2-F285-C55E-9D8C-D8404D6856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281918"/>
            <a:ext cx="7495282" cy="3932270"/>
          </a:xfrm>
        </p:spPr>
        <p:txBody>
          <a:bodyPr>
            <a:normAutofit fontScale="25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We used python as our programming language.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6000" dirty="0">
                <a:solidFill>
                  <a:schemeClr val="bg1"/>
                </a:solidFill>
              </a:rPr>
              <a:t>Frameworks &amp; Libraries:</a:t>
            </a:r>
          </a:p>
          <a:p>
            <a:pPr lvl="1"/>
            <a:r>
              <a:rPr lang="en-IN" sz="4400" dirty="0" err="1"/>
              <a:t>Streamlit</a:t>
            </a:r>
            <a:r>
              <a:rPr lang="en-IN" sz="4400" dirty="0"/>
              <a:t> (Web UI)</a:t>
            </a:r>
          </a:p>
          <a:p>
            <a:pPr lvl="1"/>
            <a:r>
              <a:rPr lang="en-IN" sz="4400" dirty="0"/>
              <a:t>Scikit-learn (Disease prediction model)</a:t>
            </a:r>
          </a:p>
          <a:p>
            <a:pPr lvl="1"/>
            <a:r>
              <a:rPr lang="en-IN" sz="4400" dirty="0" err="1"/>
              <a:t>SpeechRecognition</a:t>
            </a:r>
            <a:r>
              <a:rPr lang="en-IN" sz="4400" dirty="0"/>
              <a:t> (Voice input)</a:t>
            </a:r>
          </a:p>
          <a:p>
            <a:pPr lvl="1"/>
            <a:r>
              <a:rPr lang="en-IN" sz="4400" dirty="0"/>
              <a:t>Whisper / Google Speech API (Voice processing)</a:t>
            </a:r>
          </a:p>
          <a:p>
            <a:pPr lvl="1"/>
            <a:r>
              <a:rPr lang="en-IN" sz="4400" dirty="0"/>
              <a:t>OpenAI API (AI explanation &amp; report generation)</a:t>
            </a:r>
          </a:p>
          <a:p>
            <a:pPr lvl="1"/>
            <a:r>
              <a:rPr lang="en-IN" sz="4400" dirty="0"/>
              <a:t>Pillow (Image processing)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6000" dirty="0">
                <a:solidFill>
                  <a:schemeClr val="bg1"/>
                </a:solidFill>
              </a:rPr>
              <a:t>Tools &amp; Platforms:</a:t>
            </a:r>
          </a:p>
          <a:p>
            <a:pPr lvl="1"/>
            <a:r>
              <a:rPr lang="en-IN" sz="4400" dirty="0"/>
              <a:t>Visual Studio Code</a:t>
            </a:r>
          </a:p>
          <a:p>
            <a:pPr lvl="1"/>
            <a:r>
              <a:rPr lang="en-IN" sz="4400" dirty="0"/>
              <a:t>Anaconda Environment</a:t>
            </a:r>
          </a:p>
          <a:p>
            <a:pPr lvl="1"/>
            <a:r>
              <a:rPr lang="en-IN" sz="4400" dirty="0"/>
              <a:t>Local Laptop (Windows 11)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6000" dirty="0">
                <a:solidFill>
                  <a:schemeClr val="bg1"/>
                </a:solidFill>
              </a:rPr>
              <a:t>APIs / Cloud:</a:t>
            </a:r>
          </a:p>
          <a:p>
            <a:pPr lvl="1"/>
            <a:r>
              <a:rPr lang="en-IN" sz="4000" b="0" dirty="0"/>
              <a:t>OpenAI API (for AI assistant &amp; image diagnosis)</a:t>
            </a:r>
          </a:p>
          <a:p>
            <a:pPr marL="402336" lvl="1" indent="0">
              <a:buNone/>
            </a:pPr>
            <a:endParaRPr lang="en-IN" sz="4800" dirty="0"/>
          </a:p>
          <a:p>
            <a:pPr lvl="1"/>
            <a:endParaRPr lang="en-IN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295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CD713-250F-5CE6-A4DB-DE810D53B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Slide 5: Innovation &amp; Unique Value Proposition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EC934-0025-A31A-7A9D-44E9207FBAD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3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4600" dirty="0">
                <a:solidFill>
                  <a:schemeClr val="bg1"/>
                </a:solidFill>
              </a:rPr>
              <a:t>What Makes Our Solution Different</a:t>
            </a:r>
            <a:r>
              <a:rPr lang="en-IN" sz="2200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IN" sz="3200" dirty="0"/>
              <a:t>Gujarati Voice Based Diagnosis</a:t>
            </a:r>
          </a:p>
          <a:p>
            <a:pPr lvl="1"/>
            <a:r>
              <a:rPr lang="en-IN" sz="3200" dirty="0"/>
              <a:t>Designed specially for rural population</a:t>
            </a:r>
          </a:p>
          <a:p>
            <a:pPr lvl="1"/>
            <a:r>
              <a:rPr lang="en-IN" sz="3200" dirty="0"/>
              <a:t>Multi-mode input (Symptoms + Voice + Image) Auto-prediction after voice input</a:t>
            </a:r>
          </a:p>
          <a:p>
            <a:pPr lvl="1"/>
            <a:r>
              <a:rPr lang="en-IN" sz="3200" dirty="0"/>
              <a:t>Simple UI for low-literacy users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600" dirty="0">
                <a:solidFill>
                  <a:schemeClr val="bg1"/>
                </a:solidFill>
              </a:rPr>
              <a:t>Innovation</a:t>
            </a:r>
            <a:r>
              <a:rPr lang="en-US" sz="4600" dirty="0"/>
              <a:t>:</a:t>
            </a:r>
          </a:p>
          <a:p>
            <a:pPr lvl="1"/>
            <a:r>
              <a:rPr lang="en-US" sz="3300" dirty="0"/>
              <a:t>Regional language voice healthcare assistant</a:t>
            </a:r>
          </a:p>
          <a:p>
            <a:pPr lvl="1"/>
            <a:r>
              <a:rPr lang="en-US" sz="3300" dirty="0"/>
              <a:t>Rural-focused AI screening system</a:t>
            </a:r>
          </a:p>
          <a:p>
            <a:pPr lvl="1"/>
            <a:r>
              <a:rPr lang="en-US" sz="3300" dirty="0"/>
              <a:t>Combination of AI + Voice + Image diagnosis</a:t>
            </a:r>
          </a:p>
          <a:p>
            <a:r>
              <a:rPr lang="en-US" sz="4600" dirty="0">
                <a:solidFill>
                  <a:schemeClr val="bg1"/>
                </a:solidFill>
              </a:rPr>
              <a:t>Competitive Advantage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US" sz="3300" dirty="0"/>
              <a:t>Existing apps mostly in English</a:t>
            </a:r>
          </a:p>
          <a:p>
            <a:pPr lvl="1"/>
            <a:r>
              <a:rPr lang="en-US" sz="3300" dirty="0"/>
              <a:t>Very few support Gujarati voice</a:t>
            </a:r>
          </a:p>
          <a:p>
            <a:pPr lvl="1"/>
            <a:r>
              <a:rPr lang="en-US" sz="3300" dirty="0"/>
              <a:t>No rural-specific diagnostic assistant available</a:t>
            </a:r>
          </a:p>
          <a:p>
            <a:pPr lvl="1"/>
            <a:endParaRPr lang="en-US" sz="3300" dirty="0"/>
          </a:p>
          <a:p>
            <a:pPr lvl="1"/>
            <a:endParaRPr lang="en-IN" sz="1500" dirty="0"/>
          </a:p>
          <a:p>
            <a:pPr marL="402336" lvl="1" indent="0">
              <a:buNone/>
            </a:pPr>
            <a:br>
              <a:rPr lang="en-IN" sz="1500" dirty="0"/>
            </a:br>
            <a:br>
              <a:rPr lang="en-IN" sz="1500" dirty="0"/>
            </a:br>
            <a:br>
              <a:rPr lang="en-IN" sz="1500" dirty="0"/>
            </a:br>
            <a:endParaRPr lang="en-IN" sz="15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8718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441A-35C4-5465-64C6-BB4AFBAF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Slide 6: Feasibility &amp; Implementation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C301E-04AA-DD29-0284-ED394D4C44D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6000" dirty="0"/>
              <a:t>Development Phases:</a:t>
            </a:r>
          </a:p>
          <a:p>
            <a:pPr lvl="1"/>
            <a:r>
              <a:rPr lang="en-IN" sz="4000" dirty="0"/>
              <a:t>Phase 1 – UI &amp; Symptom Input System</a:t>
            </a:r>
          </a:p>
          <a:p>
            <a:pPr lvl="1"/>
            <a:r>
              <a:rPr lang="en-IN" sz="4000" dirty="0"/>
              <a:t>Phase 2 – Disease Prediction Model</a:t>
            </a:r>
          </a:p>
          <a:p>
            <a:pPr lvl="1"/>
            <a:r>
              <a:rPr lang="en-IN" sz="4000" dirty="0"/>
              <a:t>Phase 3 – Voice Input (Gujarati + English)</a:t>
            </a:r>
          </a:p>
          <a:p>
            <a:pPr lvl="1"/>
            <a:r>
              <a:rPr lang="en-IN" sz="4000" dirty="0"/>
              <a:t>Phase 4 – AI Explanation &amp; Medical Report</a:t>
            </a:r>
          </a:p>
          <a:p>
            <a:pPr lvl="1"/>
            <a:r>
              <a:rPr lang="en-IN" sz="4000" dirty="0"/>
              <a:t>Phase 5 – Image Diagnosis Integration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6000" dirty="0"/>
              <a:t>Milestones:</a:t>
            </a:r>
          </a:p>
          <a:p>
            <a:pPr lvl="1"/>
            <a:r>
              <a:rPr lang="en-US" sz="6000" dirty="0"/>
              <a:t>Working web app prototype </a:t>
            </a:r>
          </a:p>
          <a:p>
            <a:pPr lvl="1"/>
            <a:r>
              <a:rPr lang="en-US" sz="6000" dirty="0"/>
              <a:t>Voice system implemented </a:t>
            </a:r>
          </a:p>
          <a:p>
            <a:pPr lvl="1"/>
            <a:r>
              <a:rPr lang="en-US" sz="6000" dirty="0"/>
              <a:t>AI assistant integrated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6000" dirty="0"/>
              <a:t>Feasibility:</a:t>
            </a:r>
          </a:p>
          <a:p>
            <a:pPr lvl="1"/>
            <a:r>
              <a:rPr lang="en-US" sz="6000" dirty="0"/>
              <a:t>Runs on local laptop</a:t>
            </a:r>
          </a:p>
          <a:p>
            <a:pPr lvl="1"/>
            <a:r>
              <a:rPr lang="en-US" sz="6000" dirty="0"/>
              <a:t>Uses free / low-cost APIs</a:t>
            </a:r>
          </a:p>
          <a:p>
            <a:pPr lvl="1"/>
            <a:r>
              <a:rPr lang="en-US" sz="6000" dirty="0"/>
              <a:t>Simple deployment using </a:t>
            </a:r>
            <a:r>
              <a:rPr lang="en-US" sz="6000" dirty="0" err="1"/>
              <a:t>Streamlit</a:t>
            </a:r>
            <a:endParaRPr lang="en-US" sz="6000" dirty="0"/>
          </a:p>
          <a:p>
            <a:pPr marL="402336" lvl="1" indent="0">
              <a:buNone/>
            </a:pPr>
            <a:endParaRPr lang="en-US" sz="3400" dirty="0"/>
          </a:p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4234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CD7D7-FBF4-87AC-28DB-140572F77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7: Future Scope &amp; Scalability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38891-0C27-5A33-A3D5-8D1BFB258E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281918"/>
            <a:ext cx="6787747" cy="457608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Future Enhancements:</a:t>
            </a:r>
          </a:p>
          <a:p>
            <a:pPr lvl="1"/>
            <a:r>
              <a:rPr lang="en-IN" dirty="0"/>
              <a:t>Add more Indian languages (Hindi, Marathi, Tamil)</a:t>
            </a:r>
          </a:p>
          <a:p>
            <a:pPr lvl="1"/>
            <a:r>
              <a:rPr lang="en-IN" dirty="0"/>
              <a:t>Offline voice model using Whisper</a:t>
            </a:r>
          </a:p>
          <a:p>
            <a:pPr lvl="1"/>
            <a:r>
              <a:rPr lang="en-IN" dirty="0"/>
              <a:t>Add hospital &amp; doctor recommendation system</a:t>
            </a:r>
          </a:p>
          <a:p>
            <a:pPr lvl="1"/>
            <a:r>
              <a:rPr lang="en-IN" dirty="0"/>
              <a:t>Add emergency alert feature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Scalability:</a:t>
            </a:r>
          </a:p>
          <a:p>
            <a:pPr lvl="1"/>
            <a:r>
              <a:rPr lang="en-US" dirty="0"/>
              <a:t>Can be deployed in rural clinics</a:t>
            </a:r>
          </a:p>
          <a:p>
            <a:pPr lvl="1"/>
            <a:r>
              <a:rPr lang="en-US" dirty="0"/>
              <a:t>Can run on tablets &amp; low-cost systems</a:t>
            </a:r>
          </a:p>
          <a:p>
            <a:pPr lvl="1"/>
            <a:r>
              <a:rPr lang="en-US" dirty="0"/>
              <a:t>Can connect with government health programs</a:t>
            </a:r>
          </a:p>
          <a:p>
            <a:pPr marL="402336" lvl="1" indent="0">
              <a:buNone/>
            </a:pPr>
            <a:br>
              <a:rPr lang="en-US" dirty="0"/>
            </a:br>
            <a:r>
              <a:rPr lang="en-US" dirty="0"/>
              <a:t>	</a:t>
            </a:r>
          </a:p>
          <a:p>
            <a:pPr marL="402336" lvl="1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1600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66CBE-4927-CF68-286E-9F836D88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Slide 8: Team Details &amp; Roles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F05701-44AF-4213-45D8-30AE1263CB3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30" y="2425960"/>
            <a:ext cx="2373881" cy="223001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0B0627-E1D2-8C95-8CE2-990398E6CD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666" y="2293776"/>
            <a:ext cx="2659225" cy="2362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DBC786-DEAB-6DF3-2569-C3D0BE0758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359868"/>
            <a:ext cx="2362200" cy="2362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750318-848A-2EA1-F4B2-8B493A20C182}"/>
              </a:ext>
            </a:extLst>
          </p:cNvPr>
          <p:cNvSpPr txBox="1"/>
          <p:nvPr/>
        </p:nvSpPr>
        <p:spPr>
          <a:xfrm>
            <a:off x="3733800" y="4917232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Charadva</a:t>
            </a:r>
            <a:r>
              <a:rPr lang="en-US" dirty="0">
                <a:solidFill>
                  <a:schemeClr val="bg1"/>
                </a:solidFill>
              </a:rPr>
              <a:t> Rishi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  (AI Specialist)</a:t>
            </a:r>
            <a:r>
              <a:rPr lang="en-US" dirty="0"/>
              <a:t>))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0C17BC-5D8C-DB24-2B0E-D861570FB37A}"/>
              </a:ext>
            </a:extLst>
          </p:cNvPr>
          <p:cNvSpPr txBox="1"/>
          <p:nvPr/>
        </p:nvSpPr>
        <p:spPr>
          <a:xfrm>
            <a:off x="6624735" y="4823927"/>
            <a:ext cx="2516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Savaliya</a:t>
            </a:r>
            <a:r>
              <a:rPr lang="en-US" dirty="0">
                <a:solidFill>
                  <a:schemeClr val="bg1"/>
                </a:solidFill>
              </a:rPr>
              <a:t> Abhi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(UI/UX Designer)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A8656-DC23-0EAD-C10B-B02F34974A74}"/>
              </a:ext>
            </a:extLst>
          </p:cNvPr>
          <p:cNvSpPr txBox="1"/>
          <p:nvPr/>
        </p:nvSpPr>
        <p:spPr>
          <a:xfrm>
            <a:off x="677230" y="4917232"/>
            <a:ext cx="2373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Makwana Ayush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(Leader)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(ML Engineer)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334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B0DBF-5CB8-A17B-3E24-8F74119F7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Submission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F8C6F-3D28-C590-372C-94DD4BB9C3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281918"/>
            <a:ext cx="9855927" cy="4202009"/>
          </a:xfrm>
        </p:spPr>
        <p:txBody>
          <a:bodyPr>
            <a:normAutofit/>
          </a:bodyPr>
          <a:lstStyle/>
          <a:p>
            <a:r>
              <a:rPr lang="en-US" dirty="0"/>
              <a:t>Language: Clear, simple, professional</a:t>
            </a:r>
          </a:p>
          <a:p>
            <a:r>
              <a:rPr lang="en-US" dirty="0"/>
              <a:t>Use visuals over text wherever possible</a:t>
            </a:r>
          </a:p>
          <a:p>
            <a:r>
              <a:rPr lang="en-US" dirty="0"/>
              <a:t>No unnecessary animations</a:t>
            </a:r>
          </a:p>
          <a:p>
            <a:r>
              <a:rPr lang="en-US" dirty="0"/>
              <a:t>This PPT is only for screening round</a:t>
            </a:r>
          </a:p>
          <a:p>
            <a:r>
              <a:rPr lang="en-US" dirty="0"/>
              <a:t>The result of the finalized teams will be declared on 27</a:t>
            </a:r>
            <a:r>
              <a:rPr lang="en-US" baseline="30000" dirty="0"/>
              <a:t>th</a:t>
            </a:r>
            <a:r>
              <a:rPr lang="en-US" dirty="0"/>
              <a:t> January</a:t>
            </a:r>
          </a:p>
          <a:p>
            <a:r>
              <a:rPr lang="en-US" dirty="0"/>
              <a:t>Only selected teams will compete offline on 28</a:t>
            </a:r>
            <a:r>
              <a:rPr lang="en-US" baseline="30000" dirty="0"/>
              <a:t>th</a:t>
            </a:r>
            <a:r>
              <a:rPr lang="en-US" dirty="0"/>
              <a:t> January</a:t>
            </a:r>
          </a:p>
          <a:p>
            <a:r>
              <a:rPr lang="en-US" u="sng" dirty="0"/>
              <a:t>Submission link 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https://forms.gle/s5rMwoG4XRQ1G5Mu6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519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ATMIYA AI SUMMIT 2026</a:t>
            </a:r>
          </a:p>
          <a:p>
            <a:r>
              <a:rPr lang="en-US" dirty="0"/>
              <a:t>ATMIYA UNIVERSITY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628B9E-F254-67F4-46C0-63BB8874D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77" y="102874"/>
            <a:ext cx="1370752" cy="8992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4327AB-D32E-15FC-CDFA-1C7EC67D61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752" y="6068083"/>
            <a:ext cx="2737549" cy="598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01F4F6-8762-C7F7-14BD-033BC4BCD6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32" b="17841"/>
          <a:stretch>
            <a:fillRect/>
          </a:stretch>
        </p:blipFill>
        <p:spPr>
          <a:xfrm>
            <a:off x="1920191" y="116600"/>
            <a:ext cx="1889810" cy="86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{82C644B2-07C4-45D3-80E5-91B7C956B1F7}TFd3b75063-ff25-434d-b12c-efeaf07d16c3292f62b5_win32-75a75c970d8e</Template>
  <TotalTime>146</TotalTime>
  <Words>625</Words>
  <Application>Microsoft Office PowerPoint</Application>
  <PresentationFormat>Widescreen</PresentationFormat>
  <Paragraphs>113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Franklin Gothic Book</vt:lpstr>
      <vt:lpstr>Franklin Gothic Demi</vt:lpstr>
      <vt:lpstr>Wingdings</vt:lpstr>
      <vt:lpstr>Custom</vt:lpstr>
      <vt:lpstr>ROUND 1 : Online Screening </vt:lpstr>
      <vt:lpstr>AI Multi-Disease Diagnostic Assistant for Rural Healthcare (Gujarati Voice Based System)</vt:lpstr>
      <vt:lpstr>Slide 2: Problem Statement</vt:lpstr>
      <vt:lpstr>Slide 3: Proposed Solution (Core Idea)</vt:lpstr>
      <vt:lpstr>Slide 4: Technology Stack</vt:lpstr>
      <vt:lpstr>Slide 5: Innovation &amp; Unique Value Proposition</vt:lpstr>
      <vt:lpstr>Slide 6: Feasibility &amp; Implementation Plan</vt:lpstr>
      <vt:lpstr>Slide 7: Future Scope &amp; Scalability</vt:lpstr>
      <vt:lpstr>Slide 8: Team Details &amp; Roles</vt:lpstr>
      <vt:lpstr>Important Submission Guidelines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Gujarati</dc:creator>
  <cp:lastModifiedBy>Rishi Soni</cp:lastModifiedBy>
  <cp:revision>21</cp:revision>
  <dcterms:created xsi:type="dcterms:W3CDTF">2026-01-24T11:48:28Z</dcterms:created>
  <dcterms:modified xsi:type="dcterms:W3CDTF">2026-01-26T18:32:58Z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